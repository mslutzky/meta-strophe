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37744"/>
            <a:ext cx="5943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49225"/>
                </a:solidFill>
                <a:latin typeface="Aptos"/>
              </a:rPr>
              <a:t>NPSA CONGRESS 2026 — BARCELONA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237744"/>
            <a:ext cx="4206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A8A91"/>
                </a:solidFill>
                <a:latin typeface="Aptos"/>
              </a:rPr>
              <a:t>Between Molecules and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53312"/>
            <a:ext cx="1042416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8365D"/>
                </a:solidFill>
                <a:latin typeface="Aptos Display"/>
              </a:rPr>
              <a:t>The Architecture of Affect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84831"/>
            <a:ext cx="896112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404040"/>
                </a:solidFill>
                <a:latin typeface="Aptos"/>
              </a:rPr>
              <a:t>Threat, Opportunity, and Repair</a:t>
            </a:r>
            <a:br/>
            <a:r>
              <a:rPr sz="2400" b="1" i="0">
                <a:solidFill>
                  <a:srgbClr val="404040"/>
                </a:solidFill>
                <a:latin typeface="Aptos"/>
              </a:rPr>
              <a:t>Regulated by Three Neuropeptides of POMC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3291840"/>
            <a:ext cx="310896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364992"/>
            <a:ext cx="299923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ACTH · Mobilization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3291840"/>
            <a:ext cx="3566160" cy="50292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15383" y="3364992"/>
            <a:ext cx="345643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β-endorphin · Conservation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3291840"/>
            <a:ext cx="3108960" cy="502920"/>
          </a:xfrm>
          <a:prstGeom prst="roundRect">
            <a:avLst/>
          </a:prstGeom>
          <a:solidFill>
            <a:srgbClr val="46D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3364992"/>
            <a:ext cx="299923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02814"/>
                </a:solidFill>
                <a:latin typeface="Aptos"/>
              </a:rPr>
              <a:t>α-MSH · Recalibration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224528"/>
            <a:ext cx="78638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A8A91"/>
                </a:solidFill>
                <a:latin typeface="Aptos"/>
              </a:rPr>
              <a:t>Introduction to Meta-strophe Theory · Part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074920"/>
            <a:ext cx="502920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Aptos"/>
              </a:rPr>
              <a:t>Mitchell Slutzky, PhD</a:t>
            </a:r>
            <a:br/>
            <a:r>
              <a:rPr sz="1800" b="0" i="0">
                <a:solidFill>
                  <a:srgbClr val="404040"/>
                </a:solidFill>
                <a:latin typeface="Aptos"/>
              </a:rPr>
              <a:t>NPSA Barcelona · June 2026</a:t>
            </a:r>
          </a:p>
        </p:txBody>
      </p:sp>
      <p:sp>
        <p:nvSpPr>
          <p:cNvPr id="15" name="Oval 14"/>
          <p:cNvSpPr/>
          <p:nvPr/>
        </p:nvSpPr>
        <p:spPr>
          <a:xfrm>
            <a:off x="9441180" y="4411979"/>
            <a:ext cx="960120" cy="960120"/>
          </a:xfrm>
          <a:prstGeom prst="ellipse">
            <a:avLst/>
          </a:prstGeom>
          <a:noFill/>
          <a:ln w="25400">
            <a:solidFill>
              <a:srgbClr val="D49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82912" y="4553712"/>
            <a:ext cx="676656" cy="676656"/>
          </a:xfrm>
          <a:prstGeom prst="ellipse">
            <a:avLst/>
          </a:prstGeom>
          <a:noFill/>
          <a:ln w="25400">
            <a:solidFill>
              <a:srgbClr val="1A8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4644" y="4695444"/>
            <a:ext cx="393192" cy="393192"/>
          </a:xfrm>
          <a:prstGeom prst="ellipse">
            <a:avLst/>
          </a:prstGeom>
          <a:noFill/>
          <a:ln w="2540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CONGRESS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3200" b="1">
                <a:solidFill>
                  <a:srgbClr val="18365D"/>
                </a:solidFill>
                <a:latin typeface="Aptos"/>
              </a:rPr>
              <a:t>If affect is central, what architecture regulates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100">
                <a:solidFill>
                  <a:srgbClr val="404040"/>
                </a:solidFill>
                <a:latin typeface="Aptos"/>
              </a:rPr>
              <a:t>The congress claim becomes a substrate-free functional-architecture question: how affect coordinates regulation across brain and body.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24231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2423160" cy="100584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75688"/>
            <a:ext cx="20208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 b="1">
                <a:solidFill>
                  <a:srgbClr val="18365D"/>
                </a:solidFill>
                <a:latin typeface="Aptos"/>
              </a:rPr>
              <a:t>Functional</a:t>
            </a:r>
          </a:p>
          <a:p>
            <a:r>
              <a:rPr sz="1800" b="1">
                <a:solidFill>
                  <a:srgbClr val="18365D"/>
                </a:solidFill>
                <a:latin typeface="Apto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87752"/>
            <a:ext cx="2020824" cy="1554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00">
                <a:solidFill>
                  <a:srgbClr val="404040"/>
                </a:solidFill>
                <a:latin typeface="Aptos"/>
              </a:rPr>
              <a:t>What structure makes affect regulatory across substrates?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874519"/>
            <a:ext cx="24231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874519"/>
            <a:ext cx="2423160" cy="100584"/>
          </a:xfrm>
          <a:prstGeom prst="rect">
            <a:avLst/>
          </a:prstGeom>
          <a:solidFill>
            <a:srgbClr val="1A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2075688"/>
            <a:ext cx="20208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 b="1">
                <a:solidFill>
                  <a:srgbClr val="18365D"/>
                </a:solidFill>
                <a:latin typeface="Aptos"/>
              </a:rPr>
              <a:t>Brain–body</a:t>
            </a:r>
          </a:p>
          <a:p>
            <a:r>
              <a:rPr sz="1800" b="1">
                <a:solidFill>
                  <a:srgbClr val="18365D"/>
                </a:solidFill>
                <a:latin typeface="Aptos"/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587752"/>
            <a:ext cx="2020824" cy="1554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500">
                <a:solidFill>
                  <a:srgbClr val="404040"/>
                </a:solidFill>
                <a:latin typeface="Aptos"/>
              </a:rPr>
              <a:t>How is organismic state broadcast, compared, and updated?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24231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874519"/>
            <a:ext cx="2423160" cy="10058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075688"/>
            <a:ext cx="20208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 b="1">
                <a:solidFill>
                  <a:srgbClr val="18365D"/>
                </a:solidFill>
                <a:latin typeface="Aptos"/>
              </a:rPr>
              <a:t>Coordinated</a:t>
            </a:r>
          </a:p>
          <a:p>
            <a:r>
              <a:rPr sz="1800" b="1">
                <a:solidFill>
                  <a:srgbClr val="18365D"/>
                </a:solidFill>
                <a:latin typeface="Aptos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587752"/>
            <a:ext cx="2020824" cy="1554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500">
                <a:solidFill>
                  <a:srgbClr val="404040"/>
                </a:solidFill>
                <a:latin typeface="Aptos"/>
              </a:rPr>
              <a:t>How are regulatory actions selected, fueled, and revised?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874519"/>
            <a:ext cx="242316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874519"/>
            <a:ext cx="2423160" cy="100584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2328" y="2075688"/>
            <a:ext cx="202082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 b="1">
                <a:solidFill>
                  <a:srgbClr val="18365D"/>
                </a:solidFill>
                <a:latin typeface="Aptos"/>
              </a:rPr>
              <a:t>Clinical</a:t>
            </a:r>
          </a:p>
          <a:p>
            <a:r>
              <a:rPr sz="1800" b="1">
                <a:solidFill>
                  <a:srgbClr val="18365D"/>
                </a:solidFill>
                <a:latin typeface="Aptos"/>
              </a:rPr>
              <a:t>implications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2587752"/>
            <a:ext cx="2020824" cy="1554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500">
                <a:solidFill>
                  <a:srgbClr val="404040"/>
                </a:solidFill>
                <a:latin typeface="Aptos"/>
              </a:rPr>
              <a:t>How does this change diagnosis, treatment, and prognosis?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1033272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>
                <a:solidFill>
                  <a:srgbClr val="18365D"/>
                </a:solidFill>
                <a:latin typeface="Aptos"/>
              </a:rPr>
              <a:t>Solms and Friston place affect at the foundation of consciousness and press the question of functional organization. This talk proposes one biological candidate: POMC-derived regulatory address space.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THE MISSING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Affect is the felt face of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Not just a feeling added to physiology — a readout of regulatory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53035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8365D"/>
                </a:solidFill>
                <a:latin typeface="Aptos"/>
              </a:rPr>
              <a:t>The organism has to register: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457200" cy="45720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313432"/>
            <a:ext cx="347472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267712"/>
            <a:ext cx="45720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404040"/>
                </a:solidFill>
                <a:latin typeface="Aptos"/>
              </a:rPr>
              <a:t>What state it is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46120"/>
            <a:ext cx="457200" cy="45720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319272"/>
            <a:ext cx="347472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273552"/>
            <a:ext cx="45720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404040"/>
                </a:solidFill>
                <a:latin typeface="Aptos"/>
              </a:rPr>
              <a:t>What response that state can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457200" cy="45720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325112"/>
            <a:ext cx="347472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279392"/>
            <a:ext cx="45720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404040"/>
                </a:solidFill>
                <a:latin typeface="Aptos"/>
              </a:rPr>
              <a:t>Whether it has enough supply to meet the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00200"/>
            <a:ext cx="425196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874519"/>
            <a:ext cx="35661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100" b="1" i="0">
                <a:solidFill>
                  <a:srgbClr val="18365D"/>
                </a:solidFill>
                <a:latin typeface="Aptos"/>
              </a:rPr>
              <a:t>Regulation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2514600"/>
            <a:ext cx="1463040" cy="502920"/>
          </a:xfrm>
          <a:prstGeom prst="roundRect">
            <a:avLst/>
          </a:prstGeom>
          <a:solidFill>
            <a:srgbClr val="1A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1464" y="2587752"/>
            <a:ext cx="135331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514600"/>
            <a:ext cx="146304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587752"/>
            <a:ext cx="135331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30752"/>
            <a:ext cx="1645920" cy="50292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3803904"/>
            <a:ext cx="15361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READOUT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49640" y="2770632"/>
            <a:ext cx="640080" cy="0"/>
          </a:xfrm>
          <a:prstGeom prst="line">
            <a:avLst/>
          </a:prstGeom>
          <a:ln w="2540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189720" y="3017520"/>
            <a:ext cx="731520" cy="713232"/>
          </a:xfrm>
          <a:prstGeom prst="line">
            <a:avLst/>
          </a:prstGeom>
          <a:ln w="2540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543800" y="3017520"/>
            <a:ext cx="594360" cy="960119"/>
          </a:xfrm>
          <a:prstGeom prst="line">
            <a:avLst/>
          </a:prstGeom>
          <a:ln w="2540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03720" y="4572000"/>
            <a:ext cx="3840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404040"/>
                </a:solidFill>
                <a:latin typeface="Aptos"/>
              </a:rPr>
              <a:t>Affect is the readout that closes the loop.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THE BIOLOGICAL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POMC is ancient, not cortical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A precursor molecule cleaved into regulatory peptides that coordinate brain and body.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8346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8365D"/>
                </a:solidFill>
                <a:latin typeface="Aptos Display"/>
              </a:rPr>
              <a:t>POMC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8A91"/>
                </a:solidFill>
                <a:latin typeface="Aptos"/>
              </a:rPr>
              <a:t>proopiomelanocortin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63240"/>
            <a:ext cx="3931920" cy="2011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404040"/>
                </a:solidFill>
                <a:latin typeface="Aptos"/>
              </a:rPr>
              <a:t>Conserved across vertebrate evolution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04040"/>
                </a:solidFill>
                <a:latin typeface="Aptos"/>
              </a:rPr>
              <a:t>Cleaved on demand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04040"/>
                </a:solidFill>
                <a:latin typeface="Aptos"/>
              </a:rPr>
              <a:t>Coordinates state across body and brain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404040"/>
                </a:solidFill>
                <a:latin typeface="Aptos"/>
              </a:rPr>
              <a:t>A candidate molecular-affective grammar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67712"/>
            <a:ext cx="6355080" cy="566928"/>
          </a:xfrm>
          <a:prstGeom prst="round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423160"/>
            <a:ext cx="58521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ONE PRECURSOR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880360"/>
            <a:ext cx="0" cy="640080"/>
          </a:xfrm>
          <a:prstGeom prst="line">
            <a:avLst/>
          </a:prstGeom>
          <a:ln w="2540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92040" y="3611880"/>
            <a:ext cx="141732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3" y="3685032"/>
            <a:ext cx="13075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ACTH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60" y="2880360"/>
            <a:ext cx="0" cy="640080"/>
          </a:xfrm>
          <a:prstGeom prst="line">
            <a:avLst/>
          </a:prstGeom>
          <a:ln w="2540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040880" y="3611880"/>
            <a:ext cx="1417320" cy="50292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3685032"/>
            <a:ext cx="13075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β-endorphin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2880360"/>
            <a:ext cx="0" cy="640080"/>
          </a:xfrm>
          <a:prstGeom prst="line">
            <a:avLst/>
          </a:prstGeom>
          <a:ln w="2540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20" y="3611880"/>
            <a:ext cx="1417320" cy="502920"/>
          </a:xfrm>
          <a:prstGeom prst="roundRect">
            <a:avLst/>
          </a:prstGeom>
          <a:solidFill>
            <a:srgbClr val="46D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3685032"/>
            <a:ext cx="13075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02814"/>
                </a:solidFill>
                <a:latin typeface="Aptos"/>
              </a:rPr>
              <a:t>α-MSH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663440"/>
            <a:ext cx="603504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Three regulatory economies. One condensed communication: affect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POMC AND REGULATORY FUELS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3000" b="1">
                <a:solidFill>
                  <a:srgbClr val="18365D"/>
                </a:solidFill>
                <a:latin typeface="Aptos"/>
              </a:rPr>
              <a:t>One precursor, three regulatory economies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>
                <a:solidFill>
                  <a:srgbClr val="404040"/>
                </a:solidFill>
                <a:latin typeface="Aptos"/>
              </a:rPr>
              <a:t>The peptide triplet becomes the first visual grammar of the talk.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3520440" cy="100584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92808"/>
            <a:ext cx="31181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8365D"/>
                </a:solidFill>
                <a:latin typeface="Aptos"/>
              </a:rPr>
              <a:t>ACTH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04872"/>
            <a:ext cx="3118104" cy="3017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Mobilization</a:t>
            </a:r>
          </a:p>
          <a:p/>
          <a:p>
            <a:r>
              <a:rPr sz="1800">
                <a:solidFill>
                  <a:srgbClr val="404040"/>
                </a:solidFill>
                <a:latin typeface="Aptos"/>
              </a:rPr>
              <a:t>• cortisol / glucose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cardiovascular activation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readiness for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20440" cy="100584"/>
          </a:xfrm>
          <a:prstGeom prst="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8"/>
            <a:ext cx="31181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8365D"/>
                </a:solidFill>
                <a:latin typeface="Aptos"/>
              </a:rPr>
              <a:t>β-endorphin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04872"/>
            <a:ext cx="3118104" cy="3017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Conservation</a:t>
            </a:r>
          </a:p>
          <a:p/>
          <a:p>
            <a:r>
              <a:rPr sz="1800">
                <a:solidFill>
                  <a:srgbClr val="404040"/>
                </a:solidFill>
                <a:latin typeface="Aptos"/>
              </a:rPr>
              <a:t>• analgesia / endurance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protective withdrawal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shielding when action is too costly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9164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691640"/>
            <a:ext cx="3520440" cy="100584"/>
          </a:xfrm>
          <a:prstGeom prst="rect">
            <a:avLst/>
          </a:prstGeom>
          <a:solidFill>
            <a:srgbClr val="46D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8" y="1892808"/>
            <a:ext cx="31181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8365D"/>
                </a:solidFill>
                <a:latin typeface="Aptos"/>
              </a:rPr>
              <a:t>α-MSH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404872"/>
            <a:ext cx="3118104" cy="3017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Recalibration / repair</a:t>
            </a:r>
          </a:p>
          <a:p/>
          <a:p>
            <a:r>
              <a:rPr sz="1800">
                <a:solidFill>
                  <a:srgbClr val="404040"/>
                </a:solidFill>
                <a:latin typeface="Aptos"/>
              </a:rPr>
              <a:t>• energy balance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immune / inflammatory tuning</a:t>
            </a:r>
          </a:p>
          <a:p>
            <a:r>
              <a:rPr sz="1800">
                <a:solidFill>
                  <a:srgbClr val="404040"/>
                </a:solidFill>
                <a:latin typeface="Aptos"/>
              </a:rPr>
              <a:t>• safe strategy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THE PROBLEM AS OLD AS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Maintain viability under constraint, at minimum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Before psychology or cognition, living systems face a thermoeconomic problem.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103120" cy="548640"/>
          </a:xfrm>
          <a:prstGeom prst="roundRect">
            <a:avLst/>
          </a:prstGeom>
          <a:solidFill>
            <a:srgbClr val="1A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39112"/>
            <a:ext cx="1993391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Changing world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240280"/>
            <a:ext cx="868680" cy="0"/>
          </a:xfrm>
          <a:prstGeom prst="line">
            <a:avLst/>
          </a:prstGeom>
          <a:ln w="2794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23360" y="1417320"/>
            <a:ext cx="384048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91640"/>
            <a:ext cx="33375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Regulatory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297180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900" b="0" i="0">
                <a:solidFill>
                  <a:srgbClr val="404040"/>
                </a:solidFill>
                <a:latin typeface="Aptos"/>
              </a:rPr>
              <a:t>expand viability</a:t>
            </a:r>
            <a:br/>
            <a:r>
              <a:rPr sz="1900" b="0" i="0">
                <a:solidFill>
                  <a:srgbClr val="404040"/>
                </a:solidFill>
                <a:latin typeface="Aptos"/>
              </a:rPr>
              <a:t>under constraint</a:t>
            </a:r>
            <a:br/>
            <a:r>
              <a:rPr sz="1900" b="0" i="0">
                <a:solidFill>
                  <a:srgbClr val="404040"/>
                </a:solidFill>
                <a:latin typeface="Aptos"/>
              </a:rPr>
              <a:t>at minimum cost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240280"/>
            <a:ext cx="777241" cy="0"/>
          </a:xfrm>
          <a:prstGeom prst="line">
            <a:avLst/>
          </a:prstGeom>
          <a:ln w="2794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1965960"/>
            <a:ext cx="2103120" cy="54864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24544" y="2039112"/>
            <a:ext cx="1993391" cy="47548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Viable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886200"/>
            <a:ext cx="233172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959352"/>
            <a:ext cx="2221991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MOBILIZE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80560"/>
            <a:ext cx="2331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spend energy · 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3886200"/>
            <a:ext cx="2331720" cy="50292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5464" y="3959352"/>
            <a:ext cx="2221991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CONSERVE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480560"/>
            <a:ext cx="2331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reduce expenditure · endure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886200"/>
            <a:ext cx="2331720" cy="502920"/>
          </a:xfrm>
          <a:prstGeom prst="roundRect">
            <a:avLst/>
          </a:prstGeom>
          <a:solidFill>
            <a:srgbClr val="46D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13064" y="3959352"/>
            <a:ext cx="2221991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2814"/>
                </a:solidFill>
                <a:latin typeface="Aptos"/>
              </a:rPr>
              <a:t>RECALIBRATE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480560"/>
            <a:ext cx="23317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update strategy · repair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AFFECTIVE STATE AS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3100" b="1">
                <a:solidFill>
                  <a:srgbClr val="18365D"/>
                </a:solidFill>
                <a:latin typeface="Aptos"/>
              </a:rPr>
              <a:t>Three coordinates define a regulatory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>
                <a:solidFill>
                  <a:srgbClr val="404040"/>
                </a:solidFill>
                <a:latin typeface="Aptos"/>
              </a:rPr>
              <a:t>Affective state becomes legible as a point in structured regulatory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246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965960"/>
            <a:ext cx="640080" cy="64008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039112"/>
            <a:ext cx="530352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02996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8365D"/>
                </a:solidFill>
                <a:latin typeface="Aptos"/>
              </a:rPr>
              <a:t>Valence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260604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600">
                <a:solidFill>
                  <a:srgbClr val="404040"/>
                </a:solidFill>
                <a:latin typeface="Aptos"/>
              </a:rPr>
              <a:t>Threat or opportunity?</a:t>
            </a:r>
          </a:p>
          <a:p>
            <a:r>
              <a:rPr sz="1600">
                <a:solidFill>
                  <a:srgbClr val="404040"/>
                </a:solidFill>
                <a:latin typeface="Aptos"/>
              </a:rPr>
              <a:t>The frame in which regulatory fuels are 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91640"/>
            <a:ext cx="3246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965960"/>
            <a:ext cx="640080" cy="640080"/>
          </a:xfrm>
          <a:prstGeom prst="roundRect">
            <a:avLst/>
          </a:prstGeom>
          <a:solidFill>
            <a:srgbClr val="1A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9744" y="2039112"/>
            <a:ext cx="530352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02996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8365D"/>
                </a:solidFill>
                <a:latin typeface="Aptos"/>
              </a:rPr>
              <a:t>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88920"/>
            <a:ext cx="260604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600">
                <a:solidFill>
                  <a:srgbClr val="404040"/>
                </a:solidFill>
                <a:latin typeface="Aptos"/>
              </a:rPr>
              <a:t>Mobilize, conserve, or recalibrate?</a:t>
            </a:r>
          </a:p>
          <a:p>
            <a:r>
              <a:rPr sz="1600">
                <a:solidFill>
                  <a:srgbClr val="404040"/>
                </a:solidFill>
                <a:latin typeface="Aptos"/>
              </a:rPr>
              <a:t>The strategy being implemented.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324612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58200" y="1965960"/>
            <a:ext cx="640080" cy="640080"/>
          </a:xfrm>
          <a:prstGeom prst="round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2039112"/>
            <a:ext cx="530352" cy="56692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29968"/>
            <a:ext cx="20116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8365D"/>
                </a:solidFill>
                <a:latin typeface="Aptos"/>
              </a:rPr>
              <a:t>Supply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788920"/>
            <a:ext cx="260604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600">
                <a:solidFill>
                  <a:srgbClr val="404040"/>
                </a:solidFill>
                <a:latin typeface="Aptos"/>
              </a:rPr>
              <a:t>Peptide-specific fuel relative to demand.</a:t>
            </a:r>
          </a:p>
          <a:p>
            <a:r>
              <a:rPr sz="1600">
                <a:solidFill>
                  <a:srgbClr val="404040"/>
                </a:solidFill>
                <a:latin typeface="Aptos"/>
              </a:rPr>
              <a:t>Mismatch generates affective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57800"/>
            <a:ext cx="98755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200" b="1">
                <a:solidFill>
                  <a:srgbClr val="18365D"/>
                </a:solidFill>
                <a:latin typeface="Aptos"/>
              </a:rPr>
              <a:t>Notation:  V±[D_X relation S_Y]      example:  V−[D_M &gt; S_ACTH]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FROM ADDRESS TO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A regulatory address becomes a point in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The same grammar can be read clinically, biologically, and geometrically.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45920"/>
            <a:ext cx="365760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31089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18365D"/>
                </a:solidFill>
                <a:latin typeface="Aptos"/>
              </a:rPr>
              <a:t>Regulatory 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3108960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1818"/>
                </a:solidFill>
                <a:latin typeface="Aptos"/>
              </a:rPr>
              <a:t>V−[D_M &gt; S_ACTH]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2926080" cy="11887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404040"/>
                </a:solidFill>
                <a:latin typeface="Aptos"/>
              </a:rPr>
              <a:t>Threat frame</a:t>
            </a:r>
          </a:p>
          <a:p>
            <a:pPr algn="ctr"/>
            <a:r>
              <a:rPr sz="1200" b="0" i="0">
                <a:solidFill>
                  <a:srgbClr val="404040"/>
                </a:solidFill>
                <a:latin typeface="Aptos"/>
              </a:rPr>
              <a:t>Mobilization demand</a:t>
            </a:r>
          </a:p>
          <a:p>
            <a:pPr algn="ctr"/>
            <a:r>
              <a:rPr sz="1200" b="0" i="0">
                <a:solidFill>
                  <a:srgbClr val="404040"/>
                </a:solidFill>
                <a:latin typeface="Aptos"/>
              </a:rPr>
              <a:t>ACTH undersupply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4617720"/>
            <a:ext cx="237744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4690872"/>
            <a:ext cx="226771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ANXIETY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3337560"/>
            <a:ext cx="1188720" cy="0"/>
          </a:xfrm>
          <a:prstGeom prst="line">
            <a:avLst/>
          </a:prstGeom>
          <a:ln w="3810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600200"/>
            <a:ext cx="49834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2976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Point in regulatory space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4343400"/>
            <a:ext cx="2423160" cy="0"/>
          </a:xfrm>
          <a:prstGeom prst="line">
            <a:avLst/>
          </a:prstGeom>
          <a:ln w="2794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281160" y="46177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7A7F87"/>
                </a:solidFill>
                <a:latin typeface="Aptos"/>
              </a:rPr>
              <a:t>Supply relation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543800" y="2331720"/>
            <a:ext cx="0" cy="2011680"/>
          </a:xfrm>
          <a:prstGeom prst="line">
            <a:avLst/>
          </a:prstGeom>
          <a:ln w="2794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12280" y="2423160"/>
            <a:ext cx="1097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7A7F87"/>
                </a:solidFill>
                <a:latin typeface="Aptos"/>
              </a:rPr>
              <a:t>Demand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629400" y="4343400"/>
            <a:ext cx="914400" cy="685800"/>
          </a:xfrm>
          <a:prstGeom prst="line">
            <a:avLst/>
          </a:prstGeom>
          <a:ln w="2794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126480" y="5074920"/>
            <a:ext cx="10972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7A7F87"/>
                </a:solidFill>
                <a:latin typeface="Aptos"/>
              </a:rPr>
              <a:t>Valence</a:t>
            </a:r>
          </a:p>
        </p:txBody>
      </p:sp>
      <p:sp>
        <p:nvSpPr>
          <p:cNvPr id="21" name="Oval 20"/>
          <p:cNvSpPr/>
          <p:nvPr/>
        </p:nvSpPr>
        <p:spPr>
          <a:xfrm>
            <a:off x="8366760" y="2971800"/>
            <a:ext cx="256032" cy="256032"/>
          </a:xfrm>
          <a:prstGeom prst="ellipse">
            <a:avLst/>
          </a:prstGeom>
          <a:solidFill>
            <a:srgbClr val="FF18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33272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Each named affect is a location, not merely a label.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META-STROPHE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The geometry that falls out is a 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Catastrophe is the turn downward; Meta-strophe is the turn beyond.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834640" cy="2011680"/>
          </a:xfrm>
          <a:prstGeom prst="roundRect">
            <a:avLst/>
          </a:prstGeom>
          <a:solidFill>
            <a:srgbClr val="FFE1E1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377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Threat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28600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  <a:latin typeface="Aptos"/>
              </a:rPr>
              <a:t>mobilize / conserve</a:t>
            </a:r>
            <a:br/>
            <a:r>
              <a:rPr sz="1700" b="0" i="0">
                <a:solidFill>
                  <a:srgbClr val="404040"/>
                </a:solidFill>
                <a:latin typeface="Aptos"/>
              </a:rPr>
              <a:t>speed &gt;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600200"/>
            <a:ext cx="2834640" cy="2514600"/>
          </a:xfrm>
          <a:prstGeom prst="roundRect">
            <a:avLst/>
          </a:prstGeom>
          <a:solidFill>
            <a:srgbClr val="E2FFE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874519"/>
            <a:ext cx="2377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Opportunity 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2286000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  <a:latin typeface="Aptos"/>
              </a:rPr>
              <a:t>mobilize / conserve</a:t>
            </a:r>
            <a:br/>
            <a:r>
              <a:rPr sz="1700" b="0" i="0">
                <a:solidFill>
                  <a:srgbClr val="404040"/>
                </a:solidFill>
                <a:latin typeface="Aptos"/>
              </a:rPr>
              <a:t>+ recalibrate</a:t>
            </a:r>
            <a:br/>
            <a:r>
              <a:rPr sz="1700" b="0" i="0">
                <a:solidFill>
                  <a:srgbClr val="404040"/>
                </a:solidFill>
                <a:latin typeface="Aptos"/>
              </a:rPr>
              <a:t>accuracy &gt; speed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2788920"/>
            <a:ext cx="365759" cy="0"/>
          </a:xfrm>
          <a:prstGeom prst="line">
            <a:avLst/>
          </a:prstGeom>
          <a:ln w="2794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49440" y="2788920"/>
            <a:ext cx="914400" cy="0"/>
          </a:xfrm>
          <a:prstGeom prst="line">
            <a:avLst/>
          </a:prstGeom>
          <a:ln w="2794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sphere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234440"/>
            <a:ext cx="3566160" cy="2167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4892040"/>
            <a:ext cx="1024128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18365D"/>
                </a:solidFill>
                <a:latin typeface="Aptos"/>
              </a:rPr>
              <a:t>Part One: the structure of affect.</a:t>
            </a:r>
            <a:br/>
            <a:r>
              <a:rPr sz="2300" b="1" i="0">
                <a:solidFill>
                  <a:srgbClr val="18365D"/>
                </a:solidFill>
                <a:latin typeface="Aptos"/>
              </a:rPr>
              <a:t>The larger theory asks how organisms turn beyond failed regulation.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BUILDING 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First: a single axis —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Before affect labels, the system must choose a regulatory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080760" y="1508760"/>
            <a:ext cx="0" cy="3840480"/>
          </a:xfrm>
          <a:prstGeom prst="line">
            <a:avLst/>
          </a:prstGeom>
          <a:ln w="3810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1508760"/>
            <a:ext cx="0" cy="3840480"/>
          </a:xfrm>
          <a:prstGeom prst="line">
            <a:avLst/>
          </a:prstGeom>
          <a:ln w="38100">
            <a:solidFill>
              <a:srgbClr val="18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34840" y="1417320"/>
            <a:ext cx="3291840" cy="59436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3" y="1490472"/>
            <a:ext cx="3182112" cy="5212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MOBILIZE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  <a:latin typeface="Aptos"/>
              </a:rPr>
              <a:t>do more · spend energy · 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846320"/>
            <a:ext cx="3291840" cy="59436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3" y="4919472"/>
            <a:ext cx="3182112" cy="52120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CONSERVE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07408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  <a:latin typeface="Aptos"/>
              </a:rPr>
              <a:t>do less · reduce expenditure · shield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72384"/>
            <a:ext cx="347472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300" b="1" i="0">
                <a:solidFill>
                  <a:srgbClr val="18365D"/>
                </a:solidFill>
                <a:latin typeface="Aptos"/>
              </a:rPr>
              <a:t>This choice applies whether the situation is later read as threat or opportunity.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46120"/>
            <a:ext cx="27432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D49225"/>
                </a:solidFill>
                <a:latin typeface="Aptos"/>
              </a:rPr>
              <a:t>Valence comes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THREAT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Threat compresses regulation into a 2×2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600">
                <a:solidFill>
                  <a:srgbClr val="404040"/>
                </a:solidFill>
                <a:latin typeface="Aptos"/>
              </a:rPr>
              <a:t>Left is undersupply; right is oversupply. Peptide supply is always relative to regulatory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48840" y="1435607"/>
            <a:ext cx="384048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8365D"/>
                </a:solidFill>
                <a:latin typeface="Aptos"/>
              </a:rPr>
              <a:t>D &gt; S</a:t>
            </a:r>
            <a:br/>
            <a:r>
              <a:rPr sz="1500" b="1" i="0">
                <a:solidFill>
                  <a:srgbClr val="18365D"/>
                </a:solidFill>
                <a:latin typeface="Aptos"/>
              </a:rPr>
              <a:t>undersupply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435607"/>
            <a:ext cx="384048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8365D"/>
                </a:solidFill>
                <a:latin typeface="Aptos"/>
              </a:rPr>
              <a:t>D &lt; S</a:t>
            </a:r>
            <a:br/>
            <a:r>
              <a:rPr sz="1500" b="1" i="0">
                <a:solidFill>
                  <a:srgbClr val="18365D"/>
                </a:solidFill>
                <a:latin typeface="Aptos"/>
              </a:rPr>
              <a:t>oversupply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987552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8365D"/>
                </a:solidFill>
                <a:latin typeface="Aptos"/>
              </a:rPr>
              <a:t>Mobilize / ACTH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46220"/>
            <a:ext cx="987552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18365D"/>
                </a:solidFill>
                <a:latin typeface="Aptos"/>
              </a:rPr>
              <a:t>Conserve / β-endorphin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965960"/>
            <a:ext cx="3822192" cy="1650492"/>
          </a:xfrm>
          <a:prstGeom prst="rect">
            <a:avLst/>
          </a:prstGeom>
          <a:solidFill>
            <a:srgbClr val="FFE1E1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2240279"/>
            <a:ext cx="362102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8365D"/>
                </a:solidFill>
                <a:latin typeface="Aptos"/>
              </a:rPr>
              <a:t>Anxiety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144" y="2679191"/>
            <a:ext cx="354787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850">
                <a:solidFill>
                  <a:srgbClr val="404040"/>
                </a:solidFill>
                <a:latin typeface="Aptos"/>
              </a:rPr>
              <a:t>V−[D_M &gt; S_ACTH]</a:t>
            </a:r>
          </a:p>
          <a:p>
            <a:r>
              <a:rPr sz="850">
                <a:solidFill>
                  <a:srgbClr val="404040"/>
                </a:solidFill>
                <a:latin typeface="Aptos"/>
              </a:rPr>
              <a:t>ACTH under-supplied</a:t>
            </a:r>
          </a:p>
          <a:p>
            <a:r>
              <a:rPr sz="850">
                <a:solidFill>
                  <a:srgbClr val="404040"/>
                </a:solidFill>
                <a:latin typeface="Aptos"/>
              </a:rPr>
              <a:t>activation without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965960"/>
            <a:ext cx="3822192" cy="1650492"/>
          </a:xfrm>
          <a:prstGeom prst="rect">
            <a:avLst/>
          </a:prstGeom>
          <a:solidFill>
            <a:srgbClr val="FF8484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240279"/>
            <a:ext cx="362102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2679191"/>
            <a:ext cx="354787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850">
                <a:solidFill>
                  <a:srgbClr val="404040"/>
                </a:solidFill>
                <a:latin typeface="Aptos"/>
              </a:rPr>
              <a:t>V−[D_M &lt; S_ACTH]</a:t>
            </a:r>
          </a:p>
          <a:p>
            <a:r>
              <a:rPr sz="850">
                <a:solidFill>
                  <a:srgbClr val="404040"/>
                </a:solidFill>
                <a:latin typeface="Aptos"/>
              </a:rPr>
              <a:t>ACTH over-supplied</a:t>
            </a:r>
          </a:p>
          <a:p>
            <a:r>
              <a:rPr sz="850">
                <a:solidFill>
                  <a:srgbClr val="404040"/>
                </a:solidFill>
                <a:latin typeface="Aptos"/>
              </a:rPr>
              <a:t>surplus force for boundary defense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3634739"/>
            <a:ext cx="3822192" cy="1650492"/>
          </a:xfrm>
          <a:prstGeom prst="rect">
            <a:avLst/>
          </a:prstGeom>
          <a:solidFill>
            <a:srgbClr val="E0EB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8568" y="3909059"/>
            <a:ext cx="362102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8365D"/>
                </a:solidFill>
                <a:latin typeface="Aptos"/>
              </a:rPr>
              <a:t>Depression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4347972"/>
            <a:ext cx="354787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819">
                <a:solidFill>
                  <a:srgbClr val="404040"/>
                </a:solidFill>
                <a:latin typeface="Aptos"/>
              </a:rPr>
              <a:t>V−[D_C &gt; S_β-End]</a:t>
            </a:r>
          </a:p>
          <a:p>
            <a:r>
              <a:rPr sz="819">
                <a:solidFill>
                  <a:srgbClr val="404040"/>
                </a:solidFill>
                <a:latin typeface="Aptos"/>
              </a:rPr>
              <a:t>β-endorphin under-supplied</a:t>
            </a:r>
          </a:p>
          <a:p>
            <a:r>
              <a:rPr sz="819">
                <a:solidFill>
                  <a:srgbClr val="404040"/>
                </a:solidFill>
                <a:latin typeface="Aptos"/>
              </a:rPr>
              <a:t>shutdown without adequate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634739"/>
            <a:ext cx="3822192" cy="1650492"/>
          </a:xfrm>
          <a:prstGeom prst="rect">
            <a:avLst/>
          </a:prstGeom>
          <a:solidFill>
            <a:srgbClr val="5891EB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3909059"/>
            <a:ext cx="3621024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Dissociation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4347972"/>
            <a:ext cx="3547872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819">
                <a:solidFill>
                  <a:srgbClr val="404040"/>
                </a:solidFill>
                <a:latin typeface="Aptos"/>
              </a:rPr>
              <a:t>V−[D_C &lt; S_β-End]</a:t>
            </a:r>
          </a:p>
          <a:p>
            <a:r>
              <a:rPr sz="819">
                <a:solidFill>
                  <a:srgbClr val="404040"/>
                </a:solidFill>
                <a:latin typeface="Aptos"/>
              </a:rPr>
              <a:t>β-endorphin over-supplied</a:t>
            </a:r>
          </a:p>
          <a:p>
            <a:r>
              <a:rPr sz="819">
                <a:solidFill>
                  <a:srgbClr val="404040"/>
                </a:solidFill>
                <a:latin typeface="Aptos"/>
              </a:rPr>
              <a:t>protective shielding / analgesia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1965960"/>
            <a:ext cx="7680960" cy="3337560"/>
          </a:xfrm>
          <a:prstGeom prst="rect">
            <a:avLst/>
          </a:prstGeom>
          <a:noFill/>
          <a:ln w="1651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5623560"/>
            <a:ext cx="7863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 b="1">
                <a:solidFill>
                  <a:srgbClr val="18365D"/>
                </a:solidFill>
                <a:latin typeface="Aptos"/>
              </a:rPr>
              <a:t>Threat = act now or shield now. No true recalibrative middle is foregrounded.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FOUR THREAT-AFFECT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Threat × demand × supply produces clinical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>
                <a:solidFill>
                  <a:srgbClr val="404040"/>
                </a:solidFill>
                <a:latin typeface="Aptos"/>
              </a:rPr>
              <a:t>Same coordinate grammar; four familiar clinical configurations.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6060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2606040" cy="100584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2037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8365D"/>
                </a:solidFill>
                <a:latin typeface="Aptos"/>
              </a:rPr>
              <a:t>Anxiety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04872"/>
            <a:ext cx="2203704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>
                <a:solidFill>
                  <a:srgbClr val="404040"/>
                </a:solidFill>
                <a:latin typeface="Aptos"/>
              </a:rPr>
              <a:t>V−[D_M &gt; S_ACTH]</a:t>
            </a:r>
          </a:p>
          <a:p>
            <a:r>
              <a:rPr sz="1050">
                <a:solidFill>
                  <a:srgbClr val="404040"/>
                </a:solidFill>
                <a:latin typeface="Aptos"/>
              </a:rPr>
              <a:t>ACTH under-supplied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6060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91640"/>
            <a:ext cx="2606040" cy="100584"/>
          </a:xfrm>
          <a:prstGeom prst="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892808"/>
            <a:ext cx="22037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8365D"/>
                </a:solidFill>
                <a:latin typeface="Aptos"/>
              </a:rPr>
              <a:t>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404872"/>
            <a:ext cx="2203704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>
                <a:solidFill>
                  <a:srgbClr val="404040"/>
                </a:solidFill>
                <a:latin typeface="Aptos"/>
              </a:rPr>
              <a:t>V−[D_M &lt; S_ACTH]</a:t>
            </a:r>
          </a:p>
          <a:p>
            <a:r>
              <a:rPr sz="1050">
                <a:solidFill>
                  <a:srgbClr val="404040"/>
                </a:solidFill>
                <a:latin typeface="Aptos"/>
              </a:rPr>
              <a:t>ACTH over-supplied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26060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91640"/>
            <a:ext cx="2606040" cy="100584"/>
          </a:xfrm>
          <a:prstGeom prst="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92808"/>
            <a:ext cx="22037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8365D"/>
                </a:solidFill>
                <a:latin typeface="Aptos"/>
              </a:rPr>
              <a:t>Depression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04872"/>
            <a:ext cx="2203704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>
                <a:solidFill>
                  <a:srgbClr val="404040"/>
                </a:solidFill>
                <a:latin typeface="Aptos"/>
              </a:rPr>
              <a:t>V−[D_C &gt; S_β-End]</a:t>
            </a:r>
          </a:p>
          <a:p>
            <a:r>
              <a:rPr sz="1050">
                <a:solidFill>
                  <a:srgbClr val="404040"/>
                </a:solidFill>
                <a:latin typeface="Aptos"/>
              </a:rPr>
              <a:t>β-endorphin under-supplied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91640"/>
            <a:ext cx="26060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691640"/>
            <a:ext cx="2606040" cy="100584"/>
          </a:xfrm>
          <a:prstGeom prst="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892808"/>
            <a:ext cx="220370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8365D"/>
                </a:solidFill>
                <a:latin typeface="Aptos"/>
              </a:rPr>
              <a:t>Dissociation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404872"/>
            <a:ext cx="2203704" cy="9601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>
                <a:solidFill>
                  <a:srgbClr val="404040"/>
                </a:solidFill>
                <a:latin typeface="Aptos"/>
              </a:rPr>
              <a:t>V−[D_C &lt; S_β-End]</a:t>
            </a:r>
          </a:p>
          <a:p>
            <a:r>
              <a:rPr sz="1050">
                <a:solidFill>
                  <a:srgbClr val="404040"/>
                </a:solidFill>
                <a:latin typeface="Aptos"/>
              </a:rPr>
              <a:t>β-endorphin over-supplied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332720" cy="6400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18365D"/>
                </a:solidFill>
                <a:latin typeface="Aptos"/>
              </a:rPr>
              <a:t>The map distinguishes activation without capacity, forceful defense, unprotected shutdown, and protective shielding.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OPPORTUNITY 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α-MSH adds the third regime: recalibration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Opportunity does not mean “pleasant”; it means enough room to update rather than merely react.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017520" cy="3017520"/>
          </a:xfrm>
          <a:prstGeom prst="roundRect">
            <a:avLst/>
          </a:prstGeom>
          <a:solidFill>
            <a:srgbClr val="FFE1E1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2560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18365D"/>
                </a:solidFill>
                <a:latin typeface="Aptos"/>
              </a:rPr>
              <a:t>Threat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743200"/>
            <a:ext cx="2194560" cy="50292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816352"/>
            <a:ext cx="2084831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Mobilize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2194560" cy="50292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" y="3593592"/>
            <a:ext cx="2084831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Conserve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51960"/>
            <a:ext cx="2560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  <a:latin typeface="Aptos"/>
              </a:rPr>
              <a:t>speed &gt; accuracy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337560"/>
            <a:ext cx="914400" cy="0"/>
          </a:xfrm>
          <a:prstGeom prst="line">
            <a:avLst/>
          </a:prstGeom>
          <a:ln w="3810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49240" y="1508760"/>
            <a:ext cx="5852160" cy="3657600"/>
          </a:xfrm>
          <a:prstGeom prst="roundRect">
            <a:avLst/>
          </a:prstGeom>
          <a:solidFill>
            <a:srgbClr val="E2FFE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783080"/>
            <a:ext cx="51206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500" b="1" i="0">
                <a:solidFill>
                  <a:srgbClr val="18365D"/>
                </a:solidFill>
                <a:latin typeface="Aptos"/>
              </a:rPr>
              <a:t>Opportunity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514600"/>
            <a:ext cx="1554480" cy="457200"/>
          </a:xfrm>
          <a:prstGeom prst="roundRect">
            <a:avLst/>
          </a:prstGeom>
          <a:solidFill>
            <a:srgbClr val="FF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2587752"/>
            <a:ext cx="1444752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Mobilize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514600"/>
            <a:ext cx="1737360" cy="457200"/>
          </a:xfrm>
          <a:prstGeom prst="roundRect">
            <a:avLst/>
          </a:prstGeom>
          <a:solidFill>
            <a:srgbClr val="46D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2587752"/>
            <a:ext cx="1627631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02814"/>
                </a:solidFill>
                <a:latin typeface="Aptos"/>
              </a:rPr>
              <a:t>Recalibrate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514600"/>
            <a:ext cx="1554480" cy="457200"/>
          </a:xfrm>
          <a:prstGeom prst="roundRect">
            <a:avLst/>
          </a:prstGeom>
          <a:solidFill>
            <a:srgbClr val="075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2587752"/>
            <a:ext cx="1444752" cy="38404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Conserve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401568"/>
            <a:ext cx="516636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18365D"/>
                </a:solidFill>
                <a:latin typeface="Aptos"/>
              </a:rPr>
              <a:t>three demands × three supply relations = nine regions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069080"/>
            <a:ext cx="50749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0" i="0">
                <a:solidFill>
                  <a:srgbClr val="404040"/>
                </a:solidFill>
                <a:latin typeface="Aptos"/>
              </a:rPr>
              <a:t>α-MSH coordinates the conditions under which old regulation can be revised safely.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OPPORTUNITY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8365D"/>
                </a:solidFill>
                <a:latin typeface="Aptos Display"/>
              </a:rPr>
              <a:t>The opportunity face opens nine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97864"/>
            <a:ext cx="10698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400">
                <a:solidFill>
                  <a:srgbClr val="404040"/>
                </a:solidFill>
                <a:latin typeface="Aptos"/>
              </a:rPr>
              <a:t>Opportunity adds matched supply states; recalibration creates the middle band.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536192"/>
            <a:ext cx="2712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19" b="1" i="0">
                <a:solidFill>
                  <a:srgbClr val="18365D"/>
                </a:solidFill>
                <a:latin typeface="Aptos"/>
              </a:rPr>
              <a:t>D &gt; S</a:t>
            </a:r>
            <a:br/>
            <a:r>
              <a:rPr sz="919" b="1" i="0">
                <a:solidFill>
                  <a:srgbClr val="18365D"/>
                </a:solidFill>
                <a:latin typeface="Aptos"/>
              </a:rPr>
              <a:t>undersupply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5840" y="1536192"/>
            <a:ext cx="2712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19" b="1" i="0">
                <a:solidFill>
                  <a:srgbClr val="18365D"/>
                </a:solidFill>
                <a:latin typeface="Aptos"/>
              </a:rPr>
              <a:t>D = S</a:t>
            </a:r>
          </a:p>
          <a:p>
            <a:pPr algn="ctr"/>
            <a:r>
              <a:rPr sz="919" b="1" i="0">
                <a:solidFill>
                  <a:srgbClr val="18365D"/>
                </a:solidFill>
                <a:latin typeface="Aptos"/>
              </a:rPr>
              <a:t>matched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8560" y="1536192"/>
            <a:ext cx="271272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19" b="1" i="0">
                <a:solidFill>
                  <a:srgbClr val="18365D"/>
                </a:solidFill>
                <a:latin typeface="Aptos"/>
              </a:rPr>
              <a:t>D &lt; S</a:t>
            </a:r>
            <a:br/>
            <a:r>
              <a:rPr sz="919" b="1" i="0">
                <a:solidFill>
                  <a:srgbClr val="18365D"/>
                </a:solidFill>
                <a:latin typeface="Aptos"/>
              </a:rPr>
              <a:t>oversupply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" y="2167128"/>
            <a:ext cx="12344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8365D"/>
                </a:solidFill>
                <a:latin typeface="Aptos"/>
              </a:rPr>
              <a:t>Mobilize / ACTH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79" y="3462528"/>
            <a:ext cx="12344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8365D"/>
                </a:solidFill>
                <a:latin typeface="Aptos"/>
              </a:rPr>
              <a:t>Recalibrate / α-MSH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79" y="4757928"/>
            <a:ext cx="12344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750" b="1" i="0">
                <a:solidFill>
                  <a:srgbClr val="18365D"/>
                </a:solidFill>
                <a:latin typeface="Aptos"/>
              </a:rPr>
              <a:t>Conserve / β-endorphin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783080"/>
            <a:ext cx="2694432" cy="1277112"/>
          </a:xfrm>
          <a:prstGeom prst="rect">
            <a:avLst/>
          </a:prstGeom>
          <a:solidFill>
            <a:srgbClr val="FFE1E1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76272" y="19476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8365D"/>
                </a:solidFill>
                <a:latin typeface="Aptos"/>
              </a:rPr>
              <a:t>Anticipation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2951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V+[D_M &gt; S_ACTH]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ACTH under-supplied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5840" y="1783080"/>
            <a:ext cx="2694432" cy="1277112"/>
          </a:xfrm>
          <a:prstGeom prst="rect">
            <a:avLst/>
          </a:prstGeom>
          <a:solidFill>
            <a:srgbClr val="FFCCCC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8992" y="19476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8365D"/>
                </a:solidFill>
                <a:latin typeface="Aptos"/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8992" y="22951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V+[D_M = S_ACTH]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ACTH matched to demand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8560" y="1783080"/>
            <a:ext cx="2694432" cy="1277112"/>
          </a:xfrm>
          <a:prstGeom prst="rect">
            <a:avLst/>
          </a:prstGeom>
          <a:solidFill>
            <a:srgbClr val="FF181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1712" y="19476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Exhilaration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1712" y="22951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V+[D_M &lt; S_ACTH]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ACTH over-supplied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078480"/>
            <a:ext cx="2694432" cy="1277112"/>
          </a:xfrm>
          <a:prstGeom prst="rect">
            <a:avLst/>
          </a:prstGeom>
          <a:solidFill>
            <a:srgbClr val="E2FFE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2430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8365D"/>
                </a:solidFill>
                <a:latin typeface="Aptos"/>
              </a:rPr>
              <a:t>Too Cautious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5905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V+[D_R &gt; S_α-MSH]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α-MSH under-supplied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15840" y="3078480"/>
            <a:ext cx="2694432" cy="1277112"/>
          </a:xfrm>
          <a:prstGeom prst="rect">
            <a:avLst/>
          </a:prstGeom>
          <a:solidFill>
            <a:srgbClr val="46D65C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8992" y="32430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002814"/>
                </a:solidFill>
                <a:latin typeface="Aptos"/>
              </a:rPr>
              <a:t>Comfort 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8992" y="35905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V+[D_R = S_α-MSH]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α-MSH matched to demand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28560" y="3078480"/>
            <a:ext cx="2694432" cy="1277112"/>
          </a:xfrm>
          <a:prstGeom prst="rect">
            <a:avLst/>
          </a:prstGeom>
          <a:solidFill>
            <a:srgbClr val="1EA046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1712" y="32430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Overconfident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1712" y="35905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V+[D_R &lt; S_α-MSH]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α-MSH over-supplied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4373880"/>
            <a:ext cx="2694432" cy="1277112"/>
          </a:xfrm>
          <a:prstGeom prst="rect">
            <a:avLst/>
          </a:prstGeom>
          <a:solidFill>
            <a:srgbClr val="E0EB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76272" y="45384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8365D"/>
                </a:solidFill>
                <a:latin typeface="Aptos"/>
              </a:rPr>
              <a:t>Complacency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6272" y="48859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V+[D_C &gt; S_β-End]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β-endorphin under-supplied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5840" y="4373880"/>
            <a:ext cx="2694432" cy="1277112"/>
          </a:xfrm>
          <a:prstGeom prst="rect">
            <a:avLst/>
          </a:prstGeom>
          <a:solidFill>
            <a:srgbClr val="8DB8F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88992" y="45384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8365D"/>
                </a:solidFill>
                <a:latin typeface="Aptos"/>
              </a:rPr>
              <a:t>Contentment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8992" y="48859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V+[D_C = S_β-End]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β-endorphin matched to demand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8560" y="4373880"/>
            <a:ext cx="2694432" cy="1277112"/>
          </a:xfrm>
          <a:prstGeom prst="rect">
            <a:avLst/>
          </a:prstGeom>
          <a:solidFill>
            <a:srgbClr val="075DD8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1712" y="4538472"/>
            <a:ext cx="2566416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Bliss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1712" y="4885944"/>
            <a:ext cx="2566416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760">
                <a:solidFill>
                  <a:srgbClr val="404040"/>
                </a:solidFill>
                <a:latin typeface="Aptos"/>
              </a:rPr>
              <a:t>V+[D_C &lt; S_β-End]</a:t>
            </a:r>
          </a:p>
          <a:p>
            <a:r>
              <a:rPr sz="760">
                <a:solidFill>
                  <a:srgbClr val="404040"/>
                </a:solidFill>
                <a:latin typeface="Aptos"/>
              </a:rPr>
              <a:t>β-endorphin over-supplied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1783080"/>
            <a:ext cx="8138160" cy="3886200"/>
          </a:xfrm>
          <a:prstGeom prst="rect">
            <a:avLst/>
          </a:prstGeom>
          <a:noFill/>
          <a:ln w="16510">
            <a:solidFill>
              <a:srgbClr val="18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870448"/>
            <a:ext cx="1024128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550" b="1">
                <a:solidFill>
                  <a:srgbClr val="18365D"/>
                </a:solidFill>
                <a:latin typeface="Aptos"/>
              </a:rPr>
              <a:t>Comfort Zone = maximum regulatory freedom: the system can mobilize, conserve, and update without collapsing back into threat.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Entering the regulatory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BECFE2"/>
                </a:solidFill>
                <a:latin typeface="Aptos"/>
              </a:rPr>
              <a:t>If the live/local sphere works, this is where the deck gives way to the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here_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08760"/>
            <a:ext cx="6583680" cy="39959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600200"/>
            <a:ext cx="3520440" cy="3291840"/>
          </a:xfrm>
          <a:prstGeom prst="roundRect">
            <a:avLst/>
          </a:prstGeom>
          <a:solidFill>
            <a:srgbClr val="0C1B2F"/>
          </a:solidFill>
          <a:ln w="15240">
            <a:solidFill>
              <a:srgbClr val="37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874519"/>
            <a:ext cx="29260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Sphere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2834640" cy="1645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DAE7F4"/>
                </a:solidFill>
                <a:latin typeface="Aptos"/>
              </a:rPr>
              <a:t>1. Threat face: demand + supply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AE7F4"/>
                </a:solidFill>
                <a:latin typeface="Aptos"/>
              </a:rPr>
              <a:t>2. Four threat affects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AE7F4"/>
                </a:solidFill>
                <a:latin typeface="Aptos"/>
              </a:rPr>
              <a:t>3. Opportunity face: α-MSH adds recalibration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AE7F4"/>
                </a:solidFill>
                <a:latin typeface="Aptos"/>
              </a:rPr>
              <a:t>4. Clinical trajectories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800600"/>
            <a:ext cx="29260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D49225"/>
                </a:solidFill>
                <a:latin typeface="Aptos"/>
              </a:rPr>
              <a:t>Backup slides follow if AV fails.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B0BECC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B0BECC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B0BEC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CLINICAL RAMIFICATIONS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8365D"/>
                </a:solidFill>
                <a:latin typeface="Aptos Display"/>
              </a:rPr>
              <a:t>Diagnosis is a trajectory, not a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  <a:latin typeface="Aptos"/>
              </a:rPr>
              <a:t>Repeated mismatches move the system through regulatory 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8365D"/>
                </a:solidFill>
                <a:latin typeface="Aptos"/>
              </a:rPr>
              <a:t>Bipolar disorder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14600"/>
            <a:ext cx="2514600" cy="1783080"/>
          </a:xfrm>
          <a:prstGeom prst="rect">
            <a:avLst/>
          </a:prstGeom>
          <a:solidFill>
            <a:srgbClr val="F5F8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828800" y="2971800"/>
            <a:ext cx="1188720" cy="731520"/>
          </a:xfrm>
          <a:prstGeom prst="line">
            <a:avLst/>
          </a:prstGeom>
          <a:ln w="35560">
            <a:solidFill>
              <a:srgbClr val="D492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00400" y="2788920"/>
            <a:ext cx="164592" cy="164592"/>
          </a:xfrm>
          <a:prstGeom prst="ellipse">
            <a:avLst/>
          </a:prstGeom>
          <a:solidFill>
            <a:srgbClr val="FF18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3886200"/>
            <a:ext cx="164592" cy="164592"/>
          </a:xfrm>
          <a:prstGeom prst="ellipse">
            <a:avLst/>
          </a:prstGeom>
          <a:solidFill>
            <a:srgbClr val="075D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26974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diagonal traversal: over-supplied mobilization → depleted conservation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45920"/>
            <a:ext cx="33375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874519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8365D"/>
                </a:solidFill>
                <a:latin typeface="Aptos"/>
              </a:rPr>
              <a:t>PTSD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2514600"/>
            <a:ext cx="2514600" cy="1783080"/>
          </a:xfrm>
          <a:prstGeom prst="rect">
            <a:avLst/>
          </a:prstGeom>
          <a:solidFill>
            <a:srgbClr val="F5F8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577840" y="2788920"/>
            <a:ext cx="1143000" cy="0"/>
          </a:xfrm>
          <a:prstGeom prst="line">
            <a:avLst/>
          </a:prstGeom>
          <a:ln w="27940">
            <a:solidFill>
              <a:srgbClr val="FF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2971800"/>
            <a:ext cx="0" cy="731520"/>
          </a:xfrm>
          <a:prstGeom prst="line">
            <a:avLst/>
          </a:prstGeom>
          <a:ln w="27940">
            <a:solidFill>
              <a:srgbClr val="FF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77840" y="3886200"/>
            <a:ext cx="1143000" cy="0"/>
          </a:xfrm>
          <a:prstGeom prst="line">
            <a:avLst/>
          </a:prstGeom>
          <a:ln w="27940">
            <a:solidFill>
              <a:srgbClr val="FF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394960" y="2788920"/>
            <a:ext cx="164592" cy="164592"/>
          </a:xfrm>
          <a:prstGeom prst="ellipse">
            <a:avLst/>
          </a:prstGeom>
          <a:solidFill>
            <a:srgbClr val="FF18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03720" y="2788920"/>
            <a:ext cx="164592" cy="164592"/>
          </a:xfrm>
          <a:prstGeom prst="ellipse">
            <a:avLst/>
          </a:prstGeom>
          <a:solidFill>
            <a:srgbClr val="FF18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03720" y="3886200"/>
            <a:ext cx="164592" cy="164592"/>
          </a:xfrm>
          <a:prstGeom prst="ellipse">
            <a:avLst/>
          </a:prstGeom>
          <a:solidFill>
            <a:srgbClr val="075D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94960" y="3886200"/>
            <a:ext cx="164592" cy="164592"/>
          </a:xfrm>
          <a:prstGeom prst="ellipse">
            <a:avLst/>
          </a:prstGeom>
          <a:solidFill>
            <a:srgbClr val="075D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617720"/>
            <a:ext cx="26974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threat-lock: cycling within the threat face, recalibration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645920"/>
            <a:ext cx="33375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874519"/>
            <a:ext cx="288036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18365D"/>
                </a:solidFill>
                <a:latin typeface="Aptos"/>
              </a:rPr>
              <a:t>Borderline organization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514600"/>
            <a:ext cx="2514600" cy="1783080"/>
          </a:xfrm>
          <a:prstGeom prst="rect">
            <a:avLst/>
          </a:prstGeom>
          <a:solidFill>
            <a:srgbClr val="F5F8FA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9326880" y="2880360"/>
            <a:ext cx="1097280" cy="822960"/>
          </a:xfrm>
          <a:prstGeom prst="line">
            <a:avLst/>
          </a:prstGeom>
          <a:ln w="27940">
            <a:solidFill>
              <a:srgbClr val="1A8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966960" y="2926080"/>
            <a:ext cx="548640" cy="320040"/>
          </a:xfrm>
          <a:prstGeom prst="line">
            <a:avLst/>
          </a:prstGeom>
          <a:ln w="27940">
            <a:solidFill>
              <a:srgbClr val="1A8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12680" y="3429000"/>
            <a:ext cx="502920" cy="365760"/>
          </a:xfrm>
          <a:prstGeom prst="line">
            <a:avLst/>
          </a:prstGeom>
          <a:ln w="27940">
            <a:solidFill>
              <a:srgbClr val="1A8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281160" y="3840480"/>
            <a:ext cx="164592" cy="164592"/>
          </a:xfrm>
          <a:prstGeom prst="ellipse">
            <a:avLst/>
          </a:prstGeom>
          <a:solidFill>
            <a:srgbClr val="075D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52760" y="2743200"/>
            <a:ext cx="164592" cy="164592"/>
          </a:xfrm>
          <a:prstGeom prst="ellipse">
            <a:avLst/>
          </a:prstGeom>
          <a:solidFill>
            <a:srgbClr val="FF181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29800" y="3291840"/>
            <a:ext cx="164592" cy="164592"/>
          </a:xfrm>
          <a:prstGeom prst="ellipse">
            <a:avLst/>
          </a:prstGeom>
          <a:solidFill>
            <a:srgbClr val="46D6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07040" y="3886200"/>
            <a:ext cx="164592" cy="164592"/>
          </a:xfrm>
          <a:prstGeom prst="ellipse">
            <a:avLst/>
          </a:prstGeom>
          <a:solidFill>
            <a:srgbClr val="075DD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617720"/>
            <a:ext cx="269748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404040"/>
                </a:solidFill>
                <a:latin typeface="Aptos"/>
              </a:rPr>
              <a:t>rapid cross-valence instability, difficulty stabilizing in matched zone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EXTENSIONS AND CONVERGENCES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3100" b="1">
                <a:solidFill>
                  <a:srgbClr val="18365D"/>
                </a:solidFill>
                <a:latin typeface="Aptos"/>
              </a:rPr>
              <a:t>Three convergences, one proposed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>
                <a:solidFill>
                  <a:srgbClr val="404040"/>
                </a:solidFill>
                <a:latin typeface="Aptos"/>
              </a:rPr>
              <a:t>Each mapping is a bridge, not the full paper.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24612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3246120" cy="100584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38528"/>
            <a:ext cx="284378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8365D"/>
                </a:solidFill>
                <a:latin typeface="Aptos"/>
              </a:rPr>
              <a:t>Freud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50591"/>
            <a:ext cx="2843784" cy="2971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919">
                <a:solidFill>
                  <a:srgbClr val="404040"/>
                </a:solidFill>
                <a:latin typeface="Aptos"/>
              </a:rPr>
              <a:t>• Pleasure principle: biphasic discharge</a:t>
            </a:r>
          </a:p>
          <a:p>
            <a:r>
              <a:rPr sz="919">
                <a:solidFill>
                  <a:srgbClr val="404040"/>
                </a:solidFill>
                <a:latin typeface="Aptos"/>
              </a:rPr>
              <a:t>• Reality principle: triphasic recalibration</a:t>
            </a:r>
          </a:p>
          <a:p>
            <a:r>
              <a:rPr sz="919">
                <a:solidFill>
                  <a:srgbClr val="404040"/>
                </a:solidFill>
                <a:latin typeface="Aptos"/>
              </a:rPr>
              <a:t>• Nirvana principle: zero-demand origin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324612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246120" cy="100584"/>
          </a:xfrm>
          <a:prstGeom prst="rect">
            <a:avLst/>
          </a:prstGeom>
          <a:solidFill>
            <a:srgbClr val="1A8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1938528"/>
            <a:ext cx="284378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8365D"/>
                </a:solidFill>
                <a:latin typeface="Aptos"/>
              </a:rPr>
              <a:t>Panksepp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450591"/>
            <a:ext cx="2843784" cy="2971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919">
                <a:solidFill>
                  <a:srgbClr val="404040"/>
                </a:solidFill>
                <a:latin typeface="Aptos"/>
              </a:rPr>
              <a:t>• Primary emotional systems</a:t>
            </a:r>
          </a:p>
          <a:p>
            <a:r>
              <a:rPr sz="919">
                <a:solidFill>
                  <a:srgbClr val="404040"/>
                </a:solidFill>
                <a:latin typeface="Aptos"/>
              </a:rPr>
              <a:t>• Motivational vectors</a:t>
            </a:r>
          </a:p>
          <a:p>
            <a:r>
              <a:rPr sz="919">
                <a:solidFill>
                  <a:srgbClr val="404040"/>
                </a:solidFill>
                <a:latin typeface="Aptos"/>
              </a:rPr>
              <a:t>• Direction + intensity + resource signature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324612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737360"/>
            <a:ext cx="3246120" cy="100584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38528"/>
            <a:ext cx="2843784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2000" b="1">
                <a:solidFill>
                  <a:srgbClr val="18365D"/>
                </a:solidFill>
                <a:latin typeface="Aptos"/>
              </a:rPr>
              <a:t>Polyvagal Theory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450591"/>
            <a:ext cx="2843784" cy="2971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880">
                <a:solidFill>
                  <a:srgbClr val="404040"/>
                </a:solidFill>
                <a:latin typeface="Aptos"/>
              </a:rPr>
              <a:t>• Mobilization and shutdown as threat strategies</a:t>
            </a:r>
          </a:p>
          <a:p>
            <a:r>
              <a:rPr sz="880">
                <a:solidFill>
                  <a:srgbClr val="404040"/>
                </a:solidFill>
                <a:latin typeface="Aptos"/>
              </a:rPr>
              <a:t>• Social engagement as regulated access to safety</a:t>
            </a:r>
          </a:p>
          <a:p>
            <a:r>
              <a:rPr sz="880">
                <a:solidFill>
                  <a:srgbClr val="404040"/>
                </a:solidFill>
                <a:latin typeface="Aptos"/>
              </a:rPr>
              <a:t>• Meta-strophe adds peptide-specific supply and recalibration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10058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 b="1">
                <a:solidFill>
                  <a:srgbClr val="18365D"/>
                </a:solidFill>
                <a:latin typeface="Aptos"/>
              </a:rPr>
              <a:t>The claim is structural convergence: prior models describe parts of a larger regulatory 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120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D49225"/>
                </a:solidFill>
                <a:latin typeface="Aptos"/>
              </a:rPr>
              <a:t>PROGRAM AND FALSIFICATION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69848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3100" b="1">
                <a:solidFill>
                  <a:srgbClr val="18365D"/>
                </a:solidFill>
                <a:latin typeface="Aptos"/>
              </a:rPr>
              <a:t>Three claims to test under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07008"/>
            <a:ext cx="1069848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700">
                <a:solidFill>
                  <a:srgbClr val="404040"/>
                </a:solidFill>
                <a:latin typeface="Aptos"/>
              </a:rPr>
              <a:t>If the trajectories do not fit the cases, the model should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10312"/>
            <a:ext cx="1188720" cy="41148"/>
          </a:xfrm>
          <a:prstGeom prst="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502920" cy="50292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764792"/>
            <a:ext cx="3931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6583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Affective states are regulatory addresses: valence, demand, and peptide-specific supply.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502920" cy="50292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3931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70048"/>
            <a:ext cx="6583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Clinical categories are trajectories through the sphere, not flat symptom clusters.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11880"/>
            <a:ext cx="502920" cy="502920"/>
          </a:xfrm>
          <a:prstGeom prst="roundRect">
            <a:avLst/>
          </a:prstGeom>
          <a:solidFill>
            <a:srgbClr val="D49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685032"/>
            <a:ext cx="393192" cy="429768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630168"/>
            <a:ext cx="658368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1800">
                <a:solidFill>
                  <a:srgbClr val="404040"/>
                </a:solidFill>
                <a:latin typeface="Aptos"/>
              </a:rPr>
              <a:t>Treatment alters trajectories by restoring recalibration and reducing threat-lock.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600200"/>
            <a:ext cx="2514600" cy="2880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1783080"/>
            <a:ext cx="2011680" cy="2011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23960" y="3886200"/>
            <a:ext cx="23317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r>
              <a:rPr sz="2200" b="1">
                <a:solidFill>
                  <a:srgbClr val="18365D"/>
                </a:solidFill>
                <a:latin typeface="Aptos"/>
              </a:rPr>
              <a:t>Enter the sphere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251960"/>
            <a:ext cx="2331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950">
                <a:solidFill>
                  <a:srgbClr val="404040"/>
                </a:solidFill>
                <a:latin typeface="Aptos"/>
              </a:rPr>
              <a:t>[final URL / QR]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72237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1050" b="1">
                <a:solidFill>
                  <a:srgbClr val="18365D"/>
                </a:solidFill>
                <a:latin typeface="Aptos"/>
              </a:rPr>
              <a:t>Rotatable map · clickable regions · clinical trajectory overlays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69280"/>
            <a:ext cx="100584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/>
            <a:r>
              <a:rPr sz="950">
                <a:solidFill>
                  <a:srgbClr val="404040"/>
                </a:solidFill>
                <a:latin typeface="Aptos"/>
              </a:rPr>
              <a:t>Further developments and resource pages will be posted as completed.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7A7F87"/>
                </a:solidFill>
                <a:latin typeface="Aptos"/>
              </a:rPr>
              <a:t>Meta-strophe Theory · Part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A7F87"/>
                </a:solidFill>
                <a:latin typeface="Aptos"/>
              </a:rPr>
              <a:t>NPSA Congress 2026 · Barcelona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7A7F87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